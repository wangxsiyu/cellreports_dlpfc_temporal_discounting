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58" r:id="rId5"/>
    <p:sldId id="261" r:id="rId6"/>
    <p:sldId id="264" r:id="rId7"/>
    <p:sldId id="270" r:id="rId8"/>
    <p:sldId id="262" r:id="rId9"/>
    <p:sldId id="263" r:id="rId10"/>
    <p:sldId id="267" r:id="rId11"/>
    <p:sldId id="265" r:id="rId12"/>
    <p:sldId id="271" r:id="rId13"/>
    <p:sldId id="272" r:id="rId14"/>
    <p:sldId id="266" r:id="rId15"/>
    <p:sldId id="269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961" autoAdjust="0"/>
  </p:normalViewPr>
  <p:slideViewPr>
    <p:cSldViewPr snapToGrid="0">
      <p:cViewPr varScale="1">
        <p:scale>
          <a:sx n="132" d="100"/>
          <a:sy n="132" d="100"/>
        </p:scale>
        <p:origin x="13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DFFD064-F14C-4014-A2EF-AD56DB8DE62B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4586E8F-A366-477D-AEC6-B40AED65D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2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89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Sono confuse 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63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drops and delay are positively correlated with interaction.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81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20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would be nice to know whether these are same cells or new cells are recruited, somehow.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34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23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Black: Decoding directly form the population of what cue is. </a:t>
            </a:r>
          </a:p>
          <a:p>
            <a:r>
              <a:rPr lang="en-US" dirty="0"/>
              <a:t>Grey: independent decoding of drop and delay.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94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1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 is positively correlated with the DV. Drop is negatively correlated with the DV. </a:t>
            </a:r>
          </a:p>
          <a:p>
            <a:endParaRPr lang="en-US" dirty="0"/>
          </a:p>
          <a:p>
            <a:r>
              <a:rPr lang="en-US" dirty="0"/>
              <a:t>Drops and delay are </a:t>
            </a:r>
            <a:r>
              <a:rPr lang="en-US"/>
              <a:t>negatively correlated.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586E8F-A366-477D-AEC6-B40AED65DF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29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77EC-DF03-E579-B5AF-C8869BFFF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3F626-0DF4-D868-BA2D-00DFBA803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E99DC-6D59-5129-94DE-BE8EC642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B58A7-48A6-AFD0-E2A9-3EA9C48C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F415B-FAAD-EFDF-6C50-B8DD7764D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2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FF08-DF5E-BD08-010D-F7F8B9E8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AFB6-1B5F-6DA3-4958-0541FF4EC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A4808-39AE-A9AC-9923-834A6156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890A1-DDC6-B56C-279A-338B5CF3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C1263-760B-E618-D636-6676C41A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9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7C88-5CC5-DBCD-686A-BDB7AF158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0FC91-EA15-85E7-AD03-DCB4AE76F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3A2EB-5CB1-7FDF-0DDC-3BEDE3C5B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60DC2-3FC2-A1B4-7772-E0B2FEE0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99861-BCC8-F57C-2988-6D69E4E8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7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4310-BE4A-B9A6-C366-E63AD43B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C5722-A76E-DB22-FE04-3ADFC4EAB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783A4-98B6-B615-1FBA-F4C604756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95A5A-A619-5DF2-87A1-10935F869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2F86D-4EF1-0FD3-4A87-2CDA96F0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E5E04-48F0-28F3-A934-9F87FB97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4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6BF9-E847-00F0-B95D-F745FC9E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D9A9D-63E4-7885-75BD-1278DDC41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D55C9-613A-075F-B152-81FDFA798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BC3C9-2D13-2F86-A249-573E98775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D3F0A-AE2C-6209-73A5-72DFDEB0F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FA2629-0601-C029-3860-AE1BEF4A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66B8E-369F-94DD-3CE5-AE92FA5D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3CC37-14F9-F28D-0327-3FE5E208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99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97A2-08A9-D3AE-72FD-CF2B5BF2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52A27-30BB-264A-97EC-F74C076D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3D81B-4A18-63E1-ED0E-59D07265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5EEB7-60BC-C053-519F-F51CC593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7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39BF1-6A24-2023-149B-6F3D273B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59281-95D0-8BF8-4E33-7929BC0D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5A1C5-E746-F0A9-1836-436BF09F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0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77C1-FAA8-3787-7EEC-A6168481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BAC4-E9AB-06C5-B652-B393D526E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5C775-D420-F74F-B6AE-CF47AF2EA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EFE46-39D7-D263-2652-8BB42996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47E65-F413-27DB-49B6-64374736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20E0B-0F43-D60B-8A42-09B506E2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98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D058-8531-258B-B016-84B14953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C4F34-BD12-CDAA-1CE2-610149B6B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5B962-4D57-2F95-CCC8-98028480E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AF62F-A4F5-0EA5-AC46-907D7D71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7671F-FC63-67B6-1AC0-585F7DA7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1D01F-CD81-B03D-7047-5129D59E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5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2847-038A-5051-8D41-1FDF9379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2C5DF-DE70-42D1-33C9-0472656F1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33B1F-BF52-CDB6-8CD9-E1993DF3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186AE-0624-495B-1182-A70D5C1E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E623-05D8-46DF-FC37-42A6BF8E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1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88586-3F23-FE79-17FF-81A4C2EBB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2BE5E-4D5C-9812-DDAC-E05276F28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E8F06-FF59-6D47-8F40-783D20A5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3B19E-25A1-38D7-B4BD-4815E52A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B6590-7021-1AA3-007E-3856695F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788177-B79B-52EB-7E39-B6F8A474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770A-4173-A5A5-0F5C-D36E220D7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A3A1B-DEA4-A2E6-FA1B-0FAE22818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EF16D-19FB-4568-97D6-9FDA03C7A8D3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C3F4E-921F-5C23-4E48-52182B7E1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CB50B-53C1-05CF-B5A0-E363BD8C0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32F3A-33AD-46B7-92C1-DA051BB66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2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2.jpe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A449-8D17-A7DD-9018-17ABAA7F8C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 for </a:t>
            </a:r>
            <a:r>
              <a:rPr lang="en-US" dirty="0" err="1"/>
              <a:t>lPFC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7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8E2BDB-3075-7884-4BE0-1565DC4A8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0195" y="1668319"/>
            <a:ext cx="1435100" cy="1435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D142E6-E4D2-A4DC-36B8-953535C92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8320" y="1670173"/>
            <a:ext cx="1435100" cy="1431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905CE6-9EDF-7BD9-D488-C3075A9213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1251" y="3611811"/>
            <a:ext cx="2943225" cy="2943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CCD120-45DF-4BF2-5965-A8C5193EEF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4858" y="1668319"/>
            <a:ext cx="1435100" cy="14351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4EFE7-2540-68DA-608E-C58E19B08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11395" y="1668319"/>
            <a:ext cx="1435100" cy="143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4DFDC3-997C-40DE-4AC8-E3CF3B35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67" y="163718"/>
            <a:ext cx="10515600" cy="65925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Replication of raster plots – original Fig. 4</a:t>
            </a: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62060CA4-0DF1-29CB-5602-CA794FBE22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13171" y="1668319"/>
            <a:ext cx="1435100" cy="1435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3751A7-A4B1-73B9-33F4-57EB4E5DA528}"/>
              </a:ext>
            </a:extLst>
          </p:cNvPr>
          <p:cNvSpPr txBox="1"/>
          <p:nvPr/>
        </p:nvSpPr>
        <p:spPr>
          <a:xfrm>
            <a:off x="1016000" y="1690688"/>
            <a:ext cx="1816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 replication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23C52F-3BF6-22B6-9737-11FF1CE4E408}"/>
              </a:ext>
            </a:extLst>
          </p:cNvPr>
          <p:cNvSpPr txBox="1"/>
          <p:nvPr/>
        </p:nvSpPr>
        <p:spPr>
          <a:xfrm>
            <a:off x="959643" y="3427145"/>
            <a:ext cx="1816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5 replication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DF1AB0E-E6EF-7F24-40A7-6B211FA4CC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9946" y="3611810"/>
            <a:ext cx="29432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61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DE28-0515-9AFA-B726-2C140340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16" y="131114"/>
            <a:ext cx="3746759" cy="616452"/>
          </a:xfrm>
        </p:spPr>
        <p:txBody>
          <a:bodyPr>
            <a:noAutofit/>
          </a:bodyPr>
          <a:lstStyle/>
          <a:p>
            <a:r>
              <a:rPr lang="en-US" sz="2000" b="1" dirty="0"/>
              <a:t>ANOVA + choice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9FFC7F1-A078-DF49-D690-CF745ACA6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63" y="747566"/>
            <a:ext cx="4351338" cy="43513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2649B47-7F65-82A3-C515-91E087EA23AC}"/>
              </a:ext>
            </a:extLst>
          </p:cNvPr>
          <p:cNvGrpSpPr/>
          <p:nvPr/>
        </p:nvGrpSpPr>
        <p:grpSpPr>
          <a:xfrm>
            <a:off x="7780501" y="2561188"/>
            <a:ext cx="4019276" cy="4128397"/>
            <a:chOff x="7780501" y="2561188"/>
            <a:chExt cx="4019276" cy="4128397"/>
          </a:xfrm>
        </p:grpSpPr>
        <p:pic>
          <p:nvPicPr>
            <p:cNvPr id="7" name="Content Placeholder 4">
              <a:extLst>
                <a:ext uri="{FF2B5EF4-FFF2-40B4-BE49-F238E27FC236}">
                  <a16:creationId xmlns:a16="http://schemas.microsoft.com/office/drawing/2014/main" id="{0563D29A-6D74-3D23-8122-5EA6905C9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780501" y="2670309"/>
              <a:ext cx="4019276" cy="4019276"/>
            </a:xfrm>
            <a:prstGeom prst="rect">
              <a:avLst/>
            </a:prstGeom>
          </p:spPr>
        </p:pic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DE43A735-382C-ECC6-B066-8B116AE7BB0A}"/>
                </a:ext>
              </a:extLst>
            </p:cNvPr>
            <p:cNvSpPr txBox="1">
              <a:spLocks/>
            </p:cNvSpPr>
            <p:nvPr/>
          </p:nvSpPr>
          <p:spPr>
            <a:xfrm>
              <a:off x="9049176" y="2561188"/>
              <a:ext cx="2021433" cy="3620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dirty="0"/>
                <a:t>Effect-size plot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CF636E3-D961-B047-3916-D1C71A58C4F5}"/>
              </a:ext>
            </a:extLst>
          </p:cNvPr>
          <p:cNvSpPr txBox="1"/>
          <p:nvPr/>
        </p:nvSpPr>
        <p:spPr>
          <a:xfrm>
            <a:off x="189701" y="5206769"/>
            <a:ext cx="5801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This plot confirms that most of the cells are representing </a:t>
            </a:r>
          </a:p>
          <a:p>
            <a:pPr algn="ctr"/>
            <a:r>
              <a:rPr lang="en-US" dirty="0"/>
              <a:t>the reward related features and not choice.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BC2331-7CF6-68F4-4C9C-5DD867C8BC31}"/>
              </a:ext>
            </a:extLst>
          </p:cNvPr>
          <p:cNvGrpSpPr/>
          <p:nvPr/>
        </p:nvGrpSpPr>
        <p:grpSpPr>
          <a:xfrm>
            <a:off x="4730350" y="0"/>
            <a:ext cx="7069427" cy="3084844"/>
            <a:chOff x="4463954" y="0"/>
            <a:chExt cx="7069427" cy="308484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CD7221-1103-B268-3862-B2375CC9F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3954" y="0"/>
              <a:ext cx="3856055" cy="308484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6830AD-F213-E31E-7F87-BD09E6ACF015}"/>
                </a:ext>
              </a:extLst>
            </p:cNvPr>
            <p:cNvSpPr txBox="1"/>
            <p:nvPr/>
          </p:nvSpPr>
          <p:spPr>
            <a:xfrm>
              <a:off x="8267556" y="901437"/>
              <a:ext cx="3265825" cy="77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Times New Roman" panose="02020603050405020304" pitchFamily="18" charset="0"/>
                  <a:ea typeface="Times New Roman" panose="02020603050405020304" pitchFamily="18" charset="0"/>
                </a:rPr>
                <a:t>The neural response in the cue period does not represent the type of choice</a:t>
              </a:r>
            </a:p>
          </p:txBody>
        </p:sp>
      </p:grp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8D5819E-1BB9-DB36-7FD5-6CC30B5C4248}"/>
              </a:ext>
            </a:extLst>
          </p:cNvPr>
          <p:cNvSpPr/>
          <p:nvPr/>
        </p:nvSpPr>
        <p:spPr>
          <a:xfrm rot="18661667">
            <a:off x="4736240" y="3313380"/>
            <a:ext cx="1117401" cy="1929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0C1E197-949B-3B6C-9115-7D56E9A35148}"/>
              </a:ext>
            </a:extLst>
          </p:cNvPr>
          <p:cNvSpPr/>
          <p:nvPr/>
        </p:nvSpPr>
        <p:spPr>
          <a:xfrm rot="712413">
            <a:off x="5156634" y="4386972"/>
            <a:ext cx="2503013" cy="234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5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37EC-C89F-8BB2-71BC-C605E1BD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97" y="5756585"/>
            <a:ext cx="5860703" cy="369332"/>
          </a:xfrm>
        </p:spPr>
        <p:txBody>
          <a:bodyPr>
            <a:normAutofit fontScale="90000"/>
          </a:bodyPr>
          <a:lstStyle/>
          <a:p>
            <a:r>
              <a:rPr lang="en-US" sz="2000" b="1" dirty="0"/>
              <a:t>Replication of original Fig. 3 with 4 cells more. </a:t>
            </a:r>
            <a:br>
              <a:rPr lang="en-US" sz="2000" b="1" dirty="0"/>
            </a:br>
            <a:r>
              <a:rPr lang="en-US" sz="2000" b="1" dirty="0"/>
              <a:t>N = 121 and not 117 (because of skipped codes I missed 4 cells). </a:t>
            </a:r>
          </a:p>
        </p:txBody>
      </p:sp>
      <p:pic>
        <p:nvPicPr>
          <p:cNvPr id="9" name="Content Placeholder 4" descr="A graph showing the time and time&#10;&#10;Description automatically generated">
            <a:extLst>
              <a:ext uri="{FF2B5EF4-FFF2-40B4-BE49-F238E27FC236}">
                <a16:creationId xmlns:a16="http://schemas.microsoft.com/office/drawing/2014/main" id="{AD2357AF-C6E1-DE14-88B0-50F569ADC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9" y="1117932"/>
            <a:ext cx="4351338" cy="4351338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FFE5555-D6E1-3FBE-250D-3A27B49C96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5024" y="1117932"/>
            <a:ext cx="4339640" cy="435133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8AEF6B1-6A16-8DE7-5B07-33310E86B4A6}"/>
              </a:ext>
            </a:extLst>
          </p:cNvPr>
          <p:cNvSpPr txBox="1">
            <a:spLocks/>
          </p:cNvSpPr>
          <p:nvPr/>
        </p:nvSpPr>
        <p:spPr>
          <a:xfrm>
            <a:off x="8782571" y="1499172"/>
            <a:ext cx="2534358" cy="339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Effect-size plot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7ED3B-C399-543C-812E-B5F65226B0F7}"/>
              </a:ext>
            </a:extLst>
          </p:cNvPr>
          <p:cNvSpPr txBox="1"/>
          <p:nvPr/>
        </p:nvSpPr>
        <p:spPr>
          <a:xfrm>
            <a:off x="1050041" y="86766"/>
            <a:ext cx="10275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Since there is no choice information in the cue period, we  then used only the neurons significant </a:t>
            </a:r>
          </a:p>
          <a:p>
            <a:pPr algn="ctr"/>
            <a:r>
              <a:rPr lang="en-US" b="1" dirty="0"/>
              <a:t>for at least one factor of drop, delay and interaction.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85E75-DAEF-9586-FBA8-392D54D36513}"/>
              </a:ext>
            </a:extLst>
          </p:cNvPr>
          <p:cNvSpPr txBox="1"/>
          <p:nvPr/>
        </p:nvSpPr>
        <p:spPr>
          <a:xfrm>
            <a:off x="6425024" y="5358828"/>
            <a:ext cx="553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chart shows when we can get information about reward features.</a:t>
            </a:r>
          </a:p>
        </p:txBody>
      </p:sp>
    </p:spTree>
    <p:extLst>
      <p:ext uri="{BB962C8B-B14F-4D97-AF65-F5344CB8AC3E}">
        <p14:creationId xmlns:p14="http://schemas.microsoft.com/office/powerpoint/2010/main" val="3827453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777-BF90-375A-C794-016864CE8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903"/>
            <a:ext cx="10515600" cy="454119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Sustained activity for drop, delay, and interaction (replication Fig. 6)</a:t>
            </a:r>
          </a:p>
        </p:txBody>
      </p:sp>
      <p:pic>
        <p:nvPicPr>
          <p:cNvPr id="5" name="Content Placeholder 4" descr="A colorful diagram of a time&#10;&#10;Description automatically generated with medium confidence">
            <a:extLst>
              <a:ext uri="{FF2B5EF4-FFF2-40B4-BE49-F238E27FC236}">
                <a16:creationId xmlns:a16="http://schemas.microsoft.com/office/drawing/2014/main" id="{39E564D1-E794-60E6-68A1-B302EFD6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12" y="995579"/>
            <a:ext cx="10515600" cy="35641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380FD7-5B2B-2EF6-078A-F55DEDE15D61}"/>
              </a:ext>
            </a:extLst>
          </p:cNvPr>
          <p:cNvSpPr txBox="1"/>
          <p:nvPr/>
        </p:nvSpPr>
        <p:spPr>
          <a:xfrm>
            <a:off x="971328" y="4883596"/>
            <a:ext cx="10249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These figures describe how the same signal is carried over time.</a:t>
            </a:r>
          </a:p>
          <a:p>
            <a:r>
              <a:rPr lang="en-US" b="1" dirty="0"/>
              <a:t>Drop information is carried similarly for shorter time bins, while the delay for longer time bins. </a:t>
            </a:r>
          </a:p>
        </p:txBody>
      </p:sp>
    </p:spTree>
    <p:extLst>
      <p:ext uri="{BB962C8B-B14F-4D97-AF65-F5344CB8AC3E}">
        <p14:creationId xmlns:p14="http://schemas.microsoft.com/office/powerpoint/2010/main" val="304147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777-BF90-375A-C794-016864CE8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643" y="128059"/>
            <a:ext cx="11613445" cy="1325563"/>
          </a:xfrm>
        </p:spPr>
        <p:txBody>
          <a:bodyPr/>
          <a:lstStyle/>
          <a:p>
            <a:r>
              <a:rPr lang="en-US" dirty="0"/>
              <a:t>Sustained activity for drop, delay, and interaction (cross-correlation)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E564D1-E794-60E6-68A1-B302EFD6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162787"/>
            <a:ext cx="10515600" cy="3564126"/>
          </a:xfr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18B583B6-EEDC-B409-A366-908A3EE40094}"/>
              </a:ext>
            </a:extLst>
          </p:cNvPr>
          <p:cNvSpPr/>
          <p:nvPr/>
        </p:nvSpPr>
        <p:spPr>
          <a:xfrm>
            <a:off x="2664178" y="3296356"/>
            <a:ext cx="970844" cy="79022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1663F3-23AC-5516-A4BA-8C4A134B2068}"/>
              </a:ext>
            </a:extLst>
          </p:cNvPr>
          <p:cNvSpPr/>
          <p:nvPr/>
        </p:nvSpPr>
        <p:spPr>
          <a:xfrm>
            <a:off x="6038145" y="3296356"/>
            <a:ext cx="970844" cy="79022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F82242-A69B-F50E-707E-82E913456492}"/>
              </a:ext>
            </a:extLst>
          </p:cNvPr>
          <p:cNvSpPr/>
          <p:nvPr/>
        </p:nvSpPr>
        <p:spPr>
          <a:xfrm>
            <a:off x="3070577" y="2427112"/>
            <a:ext cx="1128889" cy="68862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4C66791-3748-8B73-E4F5-916A5C461698}"/>
              </a:ext>
            </a:extLst>
          </p:cNvPr>
          <p:cNvSpPr/>
          <p:nvPr/>
        </p:nvSpPr>
        <p:spPr>
          <a:xfrm rot="5400000">
            <a:off x="6581423" y="2968980"/>
            <a:ext cx="1682045" cy="5531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37C2A3A-7D08-C496-F8D8-C47FEB83F52E}"/>
              </a:ext>
            </a:extLst>
          </p:cNvPr>
          <p:cNvCxnSpPr/>
          <p:nvPr/>
        </p:nvCxnSpPr>
        <p:spPr>
          <a:xfrm>
            <a:off x="3285460" y="4086578"/>
            <a:ext cx="1339703" cy="1640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C40BA2-C3DD-14D0-90F9-8FC41DAFAE70}"/>
              </a:ext>
            </a:extLst>
          </p:cNvPr>
          <p:cNvCxnSpPr>
            <a:cxnSpLocks/>
          </p:cNvCxnSpPr>
          <p:nvPr/>
        </p:nvCxnSpPr>
        <p:spPr>
          <a:xfrm flipH="1">
            <a:off x="4777563" y="4008474"/>
            <a:ext cx="1410586" cy="187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0E9FC58-4A3C-98BB-4152-3EB86CF47172}"/>
              </a:ext>
            </a:extLst>
          </p:cNvPr>
          <p:cNvSpPr txBox="1"/>
          <p:nvPr/>
        </p:nvSpPr>
        <p:spPr>
          <a:xfrm>
            <a:off x="2317898" y="6071191"/>
            <a:ext cx="5466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may remind what I see in the previous heatmaps.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75FD48-903B-EF7B-0D2B-5DF8D3B0A9EB}"/>
              </a:ext>
            </a:extLst>
          </p:cNvPr>
          <p:cNvCxnSpPr/>
          <p:nvPr/>
        </p:nvCxnSpPr>
        <p:spPr>
          <a:xfrm flipV="1">
            <a:off x="3987209" y="1711842"/>
            <a:ext cx="1499191" cy="450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F5B039-B62E-3241-2E6C-691A48BE16F1}"/>
              </a:ext>
            </a:extLst>
          </p:cNvPr>
          <p:cNvCxnSpPr>
            <a:cxnSpLocks/>
          </p:cNvCxnSpPr>
          <p:nvPr/>
        </p:nvCxnSpPr>
        <p:spPr>
          <a:xfrm flipH="1" flipV="1">
            <a:off x="6814488" y="1735672"/>
            <a:ext cx="662762" cy="6239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AFEADB-2EA6-EC10-14F5-1D583C31291F}"/>
              </a:ext>
            </a:extLst>
          </p:cNvPr>
          <p:cNvSpPr txBox="1"/>
          <p:nvPr/>
        </p:nvSpPr>
        <p:spPr>
          <a:xfrm>
            <a:off x="4808479" y="1327034"/>
            <a:ext cx="2668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these?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07ED5B2-5A31-C48E-F159-3D2DBCFB133E}"/>
              </a:ext>
            </a:extLst>
          </p:cNvPr>
          <p:cNvSpPr/>
          <p:nvPr/>
        </p:nvSpPr>
        <p:spPr>
          <a:xfrm>
            <a:off x="9472138" y="2347959"/>
            <a:ext cx="1741967" cy="20316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744C68-6091-C07C-B2A2-B5541929276E}"/>
              </a:ext>
            </a:extLst>
          </p:cNvPr>
          <p:cNvSpPr txBox="1"/>
          <p:nvPr/>
        </p:nvSpPr>
        <p:spPr>
          <a:xfrm>
            <a:off x="8952614" y="1261595"/>
            <a:ext cx="2152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does it mean?</a:t>
            </a:r>
          </a:p>
        </p:txBody>
      </p:sp>
    </p:spTree>
    <p:extLst>
      <p:ext uri="{BB962C8B-B14F-4D97-AF65-F5344CB8AC3E}">
        <p14:creationId xmlns:p14="http://schemas.microsoft.com/office/powerpoint/2010/main" val="21158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F0806162-3537-213F-72D7-C481E8EEF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5272" y="3354701"/>
            <a:ext cx="3511215" cy="3511215"/>
          </a:xfrm>
          <a:prstGeom prst="rect">
            <a:avLst/>
          </a:prstGeom>
        </p:spPr>
      </p:pic>
      <p:pic>
        <p:nvPicPr>
          <p:cNvPr id="9" name="Content Placeholder 4" descr="A graph showing the time and time&#10;&#10;Description automatically generated">
            <a:extLst>
              <a:ext uri="{FF2B5EF4-FFF2-40B4-BE49-F238E27FC236}">
                <a16:creationId xmlns:a16="http://schemas.microsoft.com/office/drawing/2014/main" id="{AD2357AF-C6E1-DE14-88B0-50F569ADC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072" y="0"/>
            <a:ext cx="3511216" cy="3511216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2FFE5555-D6E1-3FBE-250D-3A27B49C96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0071" y="3429000"/>
            <a:ext cx="3511217" cy="3436916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1236598-618B-B01F-1E14-77DC8C6360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5271" y="0"/>
            <a:ext cx="3511216" cy="351121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1D7537A-8582-A95F-C065-CEA6227F3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8648" y="202248"/>
            <a:ext cx="2231418" cy="4929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600" b="1" dirty="0"/>
              <a:t>ANOVA: drop, delay, </a:t>
            </a:r>
            <a:br>
              <a:rPr lang="en-US" sz="1600" b="1" dirty="0"/>
            </a:br>
            <a:r>
              <a:rPr lang="en-US" sz="1600" b="1" dirty="0"/>
              <a:t>value (continuous variable)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145BA5E-C96E-5D5B-3073-1F415CBD0538}"/>
              </a:ext>
            </a:extLst>
          </p:cNvPr>
          <p:cNvSpPr txBox="1">
            <a:spLocks/>
          </p:cNvSpPr>
          <p:nvPr/>
        </p:nvSpPr>
        <p:spPr>
          <a:xfrm>
            <a:off x="29480" y="197526"/>
            <a:ext cx="1727201" cy="4929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ANOVA: drop, delay, </a:t>
            </a:r>
            <a:br>
              <a:rPr lang="en-US" sz="1400" b="1" dirty="0"/>
            </a:br>
            <a:r>
              <a:rPr lang="en-US" sz="1400" b="1" dirty="0"/>
              <a:t>interaction  </a:t>
            </a:r>
          </a:p>
          <a:p>
            <a:pPr algn="ctr"/>
            <a:r>
              <a:rPr lang="en-US" sz="1400" b="1" dirty="0"/>
              <a:t>(categorical variables)</a:t>
            </a:r>
          </a:p>
        </p:txBody>
      </p:sp>
    </p:spTree>
    <p:extLst>
      <p:ext uri="{BB962C8B-B14F-4D97-AF65-F5344CB8AC3E}">
        <p14:creationId xmlns:p14="http://schemas.microsoft.com/office/powerpoint/2010/main" val="300537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DE28-0515-9AFA-B726-2C140340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80" y="110463"/>
            <a:ext cx="10515600" cy="640786"/>
          </a:xfrm>
        </p:spPr>
        <p:txBody>
          <a:bodyPr>
            <a:normAutofit/>
          </a:bodyPr>
          <a:lstStyle/>
          <a:p>
            <a:r>
              <a:rPr lang="en-US" sz="2800" dirty="0"/>
              <a:t>ANOVA: drop, delay, value (continuous variable)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9FFC7F1-A078-DF49-D690-CF745ACA6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293" y="1166928"/>
            <a:ext cx="4351338" cy="435133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B632665-6D4D-0D1E-73BB-F5D09497E0DC}"/>
              </a:ext>
            </a:extLst>
          </p:cNvPr>
          <p:cNvGrpSpPr/>
          <p:nvPr/>
        </p:nvGrpSpPr>
        <p:grpSpPr>
          <a:xfrm>
            <a:off x="6647686" y="980680"/>
            <a:ext cx="4339640" cy="4530212"/>
            <a:chOff x="6167392" y="1074457"/>
            <a:chExt cx="4339640" cy="4530212"/>
          </a:xfrm>
        </p:grpSpPr>
        <p:pic>
          <p:nvPicPr>
            <p:cNvPr id="7" name="Content Placeholder 4">
              <a:extLst>
                <a:ext uri="{FF2B5EF4-FFF2-40B4-BE49-F238E27FC236}">
                  <a16:creationId xmlns:a16="http://schemas.microsoft.com/office/drawing/2014/main" id="{0563D29A-6D74-3D23-8122-5EA6905C9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167392" y="1265029"/>
              <a:ext cx="4339640" cy="4339640"/>
            </a:xfrm>
            <a:prstGeom prst="rect">
              <a:avLst/>
            </a:prstGeom>
          </p:spPr>
        </p:pic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DE43A735-382C-ECC6-B066-8B116AE7BB0A}"/>
                </a:ext>
              </a:extLst>
            </p:cNvPr>
            <p:cNvSpPr txBox="1">
              <a:spLocks/>
            </p:cNvSpPr>
            <p:nvPr/>
          </p:nvSpPr>
          <p:spPr>
            <a:xfrm>
              <a:off x="7391180" y="1074457"/>
              <a:ext cx="1892063" cy="35774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47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/>
                <a:t>Effect-size plot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980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DE28-0515-9AFA-B726-2C140340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35" y="37640"/>
            <a:ext cx="10515600" cy="643397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ANOVA: drop(</a:t>
            </a:r>
            <a:r>
              <a:rPr lang="en-US" sz="4400" dirty="0" err="1"/>
              <a:t>cont</a:t>
            </a:r>
            <a:r>
              <a:rPr lang="en-US" sz="4400" dirty="0"/>
              <a:t>), delay (</a:t>
            </a:r>
            <a:r>
              <a:rPr lang="en-US" sz="4400" dirty="0" err="1"/>
              <a:t>cont</a:t>
            </a:r>
            <a:r>
              <a:rPr lang="en-US" sz="4400" dirty="0"/>
              <a:t>), value(</a:t>
            </a:r>
            <a:r>
              <a:rPr lang="en-US" sz="4400" dirty="0" err="1"/>
              <a:t>cont</a:t>
            </a:r>
            <a:r>
              <a:rPr lang="en-US" sz="4400" dirty="0"/>
              <a:t>)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9FFC7F1-A078-DF49-D690-CF745ACA6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842" y="972934"/>
            <a:ext cx="4351338" cy="435133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80B93D2-5E0F-1A68-76C1-4172E882242F}"/>
              </a:ext>
            </a:extLst>
          </p:cNvPr>
          <p:cNvGrpSpPr/>
          <p:nvPr/>
        </p:nvGrpSpPr>
        <p:grpSpPr>
          <a:xfrm>
            <a:off x="6344373" y="972934"/>
            <a:ext cx="4962725" cy="4339640"/>
            <a:chOff x="6344373" y="972934"/>
            <a:chExt cx="4962725" cy="4339640"/>
          </a:xfrm>
        </p:grpSpPr>
        <p:pic>
          <p:nvPicPr>
            <p:cNvPr id="7" name="Content Placeholder 4">
              <a:extLst>
                <a:ext uri="{FF2B5EF4-FFF2-40B4-BE49-F238E27FC236}">
                  <a16:creationId xmlns:a16="http://schemas.microsoft.com/office/drawing/2014/main" id="{0563D29A-6D74-3D23-8122-5EA6905C9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44373" y="972934"/>
              <a:ext cx="4339640" cy="4339640"/>
            </a:xfrm>
            <a:prstGeom prst="rect">
              <a:avLst/>
            </a:prstGeom>
          </p:spPr>
        </p:pic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DE43A735-382C-ECC6-B066-8B116AE7BB0A}"/>
                </a:ext>
              </a:extLst>
            </p:cNvPr>
            <p:cNvSpPr txBox="1">
              <a:spLocks/>
            </p:cNvSpPr>
            <p:nvPr/>
          </p:nvSpPr>
          <p:spPr>
            <a:xfrm>
              <a:off x="8854596" y="1272661"/>
              <a:ext cx="2452502" cy="42657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800" dirty="0"/>
                <a:t>Effect-size plot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8124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3EC6-3E1F-06C2-2F5D-218CC451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755" y="184504"/>
            <a:ext cx="10515600" cy="709518"/>
          </a:xfrm>
        </p:spPr>
        <p:txBody>
          <a:bodyPr/>
          <a:lstStyle/>
          <a:p>
            <a:r>
              <a:rPr lang="en-US" dirty="0"/>
              <a:t>Decoding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99AE8C-DA1D-3CF8-D160-CBF64BAA5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00" y="1496742"/>
            <a:ext cx="10515600" cy="3564126"/>
          </a:xfrm>
        </p:spPr>
      </p:pic>
    </p:spTree>
    <p:extLst>
      <p:ext uri="{BB962C8B-B14F-4D97-AF65-F5344CB8AC3E}">
        <p14:creationId xmlns:p14="http://schemas.microsoft.com/office/powerpoint/2010/main" val="2261935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777-BF90-375A-C794-016864CE8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7" y="186603"/>
            <a:ext cx="10515600" cy="1325563"/>
          </a:xfrm>
        </p:spPr>
        <p:txBody>
          <a:bodyPr/>
          <a:lstStyle/>
          <a:p>
            <a:r>
              <a:rPr lang="en-US" dirty="0"/>
              <a:t>Sustained activity for drop, delay, and VALUE (auto-correlation)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E564D1-E794-60E6-68A1-B302EFD6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19231"/>
            <a:ext cx="10515600" cy="356412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7CAD4EA-3187-C6B3-F688-D5EAA78B8F20}"/>
              </a:ext>
            </a:extLst>
          </p:cNvPr>
          <p:cNvSpPr/>
          <p:nvPr/>
        </p:nvSpPr>
        <p:spPr>
          <a:xfrm>
            <a:off x="9622465" y="3354572"/>
            <a:ext cx="616688" cy="7814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014BDB-5BC1-56C8-5FF1-8FAD8A8B0DD1}"/>
              </a:ext>
            </a:extLst>
          </p:cNvPr>
          <p:cNvSpPr/>
          <p:nvPr/>
        </p:nvSpPr>
        <p:spPr>
          <a:xfrm>
            <a:off x="10239153" y="2647507"/>
            <a:ext cx="616688" cy="78149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2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AB3E-FAE6-4022-DBBD-8B6F43C2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 “dynamic” vs “sustained” population activity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7E60D-26CD-E010-6477-314663CB4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118" y="2154463"/>
            <a:ext cx="6963076" cy="352560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37A909E-727C-3EB5-61B9-1C1C8B249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64"/>
          <a:stretch/>
        </p:blipFill>
        <p:spPr>
          <a:xfrm>
            <a:off x="838200" y="2135204"/>
            <a:ext cx="3473918" cy="3564126"/>
          </a:xfrm>
        </p:spPr>
      </p:pic>
    </p:spTree>
    <p:extLst>
      <p:ext uri="{BB962C8B-B14F-4D97-AF65-F5344CB8AC3E}">
        <p14:creationId xmlns:p14="http://schemas.microsoft.com/office/powerpoint/2010/main" val="2940544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AB3E-FAE6-4022-DBBD-8B6F43C2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 “dynamic” vs “sustained” population activity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434E5-CAD7-6447-11EF-F5A7EA943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892E10-ADB2-5AB9-88EE-910EAD31D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062606"/>
            <a:ext cx="3810000" cy="3810000"/>
          </a:xfrm>
          <a:prstGeom prst="rect">
            <a:avLst/>
          </a:prstGeom>
        </p:spPr>
      </p:pic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22AC3255-8113-6458-46FA-DFA36B206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625" y="2916447"/>
            <a:ext cx="6202680" cy="210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47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A777-BF90-375A-C794-016864CE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of coding dimension for drop, delay, and VALUE (cross-correlation)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E564D1-E794-60E6-68A1-B302EFD6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2219231"/>
            <a:ext cx="10515600" cy="356412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A8E74D23-92DB-0258-20FF-0C5C9FC1C9E7}"/>
              </a:ext>
            </a:extLst>
          </p:cNvPr>
          <p:cNvSpPr/>
          <p:nvPr/>
        </p:nvSpPr>
        <p:spPr>
          <a:xfrm>
            <a:off x="3375378" y="2540000"/>
            <a:ext cx="857956" cy="15804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49EE0A-4CE6-3F1A-258B-173ECF8930CF}"/>
              </a:ext>
            </a:extLst>
          </p:cNvPr>
          <p:cNvSpPr/>
          <p:nvPr/>
        </p:nvSpPr>
        <p:spPr>
          <a:xfrm>
            <a:off x="6826957" y="2488583"/>
            <a:ext cx="857956" cy="15804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ECEAE9-36F8-9305-FA41-F894D7BD744E}"/>
              </a:ext>
            </a:extLst>
          </p:cNvPr>
          <p:cNvSpPr/>
          <p:nvPr/>
        </p:nvSpPr>
        <p:spPr>
          <a:xfrm>
            <a:off x="2753833" y="3429000"/>
            <a:ext cx="510362" cy="6914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639B15-D5A0-A3A2-AEF4-2B2D3DAA6EE8}"/>
              </a:ext>
            </a:extLst>
          </p:cNvPr>
          <p:cNvSpPr/>
          <p:nvPr/>
        </p:nvSpPr>
        <p:spPr>
          <a:xfrm>
            <a:off x="6211285" y="3429000"/>
            <a:ext cx="510362" cy="6914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25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69C5-83E5-5511-6C3E-5A38995BA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Yellow 1</a:t>
            </a:r>
            <a:r>
              <a:rPr lang="en-US" baseline="30000" dirty="0"/>
              <a:t>st</a:t>
            </a:r>
            <a:r>
              <a:rPr lang="en-US" dirty="0"/>
              <a:t> vs Purple 1</a:t>
            </a:r>
            <a:r>
              <a:rPr lang="en-US" baseline="30000" dirty="0"/>
              <a:t>st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D5BD58-11D2-0A93-457D-AD5A342FE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690688"/>
            <a:ext cx="4351338" cy="4351338"/>
          </a:xfrm>
        </p:spPr>
      </p:pic>
      <p:pic>
        <p:nvPicPr>
          <p:cNvPr id="4" name="Picture 3" descr="A graph of a number of people&#10;&#10;Description automatically generated">
            <a:extLst>
              <a:ext uri="{FF2B5EF4-FFF2-40B4-BE49-F238E27FC236}">
                <a16:creationId xmlns:a16="http://schemas.microsoft.com/office/drawing/2014/main" id="{4B967B0D-4321-6A1D-0BAA-E6ADEC6F8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481" y="1546334"/>
            <a:ext cx="4495691" cy="449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03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397</Words>
  <Application>Microsoft Office PowerPoint</Application>
  <PresentationFormat>Widescreen</PresentationFormat>
  <Paragraphs>51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Results for lPFC</vt:lpstr>
      <vt:lpstr>Replication of raster plots – original Fig. 4</vt:lpstr>
      <vt:lpstr>ANOVA + choice</vt:lpstr>
      <vt:lpstr>Replication of original Fig. 3 with 4 cells more.  N = 121 and not 117 (because of skipped codes I missed 4 cells). </vt:lpstr>
      <vt:lpstr>Sustained activity for drop, delay, and interaction (replication Fig. 6)</vt:lpstr>
      <vt:lpstr>Sustained activity for drop, delay, and interaction (cross-correlation)</vt:lpstr>
      <vt:lpstr>ANOVA: drop, delay,  value (continuous variable)</vt:lpstr>
      <vt:lpstr>ANOVA: drop, delay, value (continuous variable)</vt:lpstr>
      <vt:lpstr>ANOVA: drop(cont), delay (cont), value(cont)</vt:lpstr>
      <vt:lpstr>Decoding analysis</vt:lpstr>
      <vt:lpstr>Sustained activity for drop, delay, and VALUE (auto-correlation)</vt:lpstr>
      <vt:lpstr>Quantify “dynamic” vs “sustained” population activity</vt:lpstr>
      <vt:lpstr>Quantify “dynamic” vs “sustained” population activity</vt:lpstr>
      <vt:lpstr>Correlation of coding dimension for drop, delay, and VALUE (cross-correlation)</vt:lpstr>
      <vt:lpstr>Yellow 1st vs Purple 1st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 for lPFC</dc:title>
  <dc:creator>Siyu Wang</dc:creator>
  <cp:lastModifiedBy>Siyu Wang</cp:lastModifiedBy>
  <cp:revision>103</cp:revision>
  <cp:lastPrinted>2024-04-19T16:45:48Z</cp:lastPrinted>
  <dcterms:created xsi:type="dcterms:W3CDTF">2024-04-16T09:31:56Z</dcterms:created>
  <dcterms:modified xsi:type="dcterms:W3CDTF">2024-04-22T13:50:47Z</dcterms:modified>
</cp:coreProperties>
</file>